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4" r:id="rId1"/>
  </p:sldMasterIdLst>
  <p:notesMasterIdLst>
    <p:notesMasterId r:id="rId16"/>
  </p:notesMasterIdLst>
  <p:sldIdLst>
    <p:sldId id="256" r:id="rId2"/>
    <p:sldId id="285" r:id="rId3"/>
    <p:sldId id="418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4" r:id="rId15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sé Angel Bañares Bañares" initials="JABB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1655" autoAdjust="0"/>
  </p:normalViewPr>
  <p:slideViewPr>
    <p:cSldViewPr snapToGrid="0" snapToObjects="1">
      <p:cViewPr varScale="1">
        <p:scale>
          <a:sx n="116" d="100"/>
          <a:sy n="116" d="100"/>
        </p:scale>
        <p:origin x="856" y="192"/>
      </p:cViewPr>
      <p:guideLst>
        <p:guide orient="horz" pos="21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68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C0401-C547-6B40-906F-0A178EDB9A24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8392A-FBA3-0949-9D3C-544774A2C727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858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F8392A-FBA3-0949-9D3C-544774A2C72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377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8940" y="268290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4208929"/>
            <a:ext cx="5458968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0" y="5257800"/>
            <a:ext cx="5458968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90527"/>
            <a:ext cx="5504688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8688" y="6356352"/>
            <a:ext cx="4736592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6494" y="6356352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B7CC652-A623-41D2-B0ED-8F1D217186B4}" type="slidenum">
              <a:rPr lang="es-ES_tradnl" smtClean="0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2"/>
            <a:ext cx="1752600" cy="365125"/>
          </a:xfrm>
        </p:spPr>
        <p:txBody>
          <a:bodyPr/>
          <a:lstStyle/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fld id="{F6E6C0E6-1DFE-6846-9372-C9A94349DBDD}" type="slidenum">
              <a:rPr lang="en-GB" smtClean="0"/>
              <a:pPr/>
              <a:t>‹Nº›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86953" y="268288"/>
            <a:ext cx="566928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399" y="4171950"/>
            <a:ext cx="5457919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2" y="5257801"/>
            <a:ext cx="5457918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76600" y="389967"/>
            <a:ext cx="5499847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13848" y="6356352"/>
            <a:ext cx="473411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459" y="6356352"/>
            <a:ext cx="6858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200401" y="2877671"/>
            <a:ext cx="5646867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Haga clic en el icono para agregar una imagen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68940" y="268290"/>
            <a:ext cx="18288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, objetos e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8424" y="914400"/>
            <a:ext cx="6508377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8424" y="2209802"/>
            <a:ext cx="6508377" cy="3916363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12106" y="6356352"/>
            <a:ext cx="1752600" cy="365125"/>
          </a:xfrm>
        </p:spPr>
        <p:txBody>
          <a:bodyPr/>
          <a:lstStyle/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78423" y="6356352"/>
            <a:ext cx="492685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31694" y="361018"/>
            <a:ext cx="506506" cy="365125"/>
          </a:xfrm>
        </p:spPr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5" y="1976718"/>
            <a:ext cx="164592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Haga clic en el icono para agregar una imagen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58952" y="268288"/>
            <a:ext cx="1099073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2" y="3429000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9802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600" y="6356352"/>
            <a:ext cx="1622612" cy="365125"/>
          </a:xfrm>
        </p:spPr>
        <p:txBody>
          <a:bodyPr/>
          <a:lstStyle/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4812" y="6356352"/>
            <a:ext cx="5311588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 lang="es-ES_tradnl" smtClean="0"/>
              <a:pPr/>
              <a:t>‹Nº›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ón con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69875" y="4773706"/>
            <a:ext cx="29718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354" y="3429001"/>
            <a:ext cx="4966446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354" y="4824414"/>
            <a:ext cx="4966446" cy="1320800"/>
          </a:xfrm>
        </p:spPr>
        <p:txBody>
          <a:bodyPr anchor="t" anchorCtr="0">
            <a:normAutofit/>
          </a:bodyPr>
          <a:lstStyle>
            <a:lvl1pPr marL="0" indent="0" algn="r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1213" y="6104967"/>
            <a:ext cx="506506" cy="365125"/>
          </a:xfrm>
        </p:spPr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269874" y="268288"/>
            <a:ext cx="29718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Haga clic en el icono para agregar una imagen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739140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244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7388352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689413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79391" y="2054132"/>
            <a:ext cx="356616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79391" y="2689413"/>
            <a:ext cx="356616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objetos, superior e inf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739140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2214562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57199" y="4224973"/>
            <a:ext cx="7396163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739140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3"/>
            <a:ext cx="356616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14400"/>
            <a:ext cx="7391401" cy="1143000"/>
          </a:xfrm>
        </p:spPr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244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428244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457200" y="2214562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457200" y="4224973"/>
            <a:ext cx="356616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48918" y="268288"/>
            <a:ext cx="718073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052" y="990600"/>
            <a:ext cx="356616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1"/>
            <a:ext cx="3566160" cy="365760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746811" y="268288"/>
            <a:ext cx="41148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995082"/>
            <a:ext cx="356616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199" y="2057401"/>
            <a:ext cx="3566160" cy="365760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1365" y="6124016"/>
            <a:ext cx="1752600" cy="365125"/>
          </a:xfrm>
        </p:spPr>
        <p:txBody>
          <a:bodyPr/>
          <a:lstStyle>
            <a:lvl1pPr algn="l">
              <a:defRPr/>
            </a:lvl1pPr>
          </a:lstStyle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4812" y="6356352"/>
            <a:ext cx="3863788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760258" y="990600"/>
            <a:ext cx="4096512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s-ES_tradnl"/>
              <a:t>Haga clic en el icono para agregar una imagen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encima d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216776" y="268288"/>
            <a:ext cx="1639457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6858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Haga clic en el icono para agregar una imagen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3"/>
            <a:ext cx="6475412" cy="13042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imágenes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35472" y="268288"/>
            <a:ext cx="720761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4267200"/>
            <a:ext cx="6477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9874" y="268288"/>
            <a:ext cx="3006726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Haga clic en el icono para agregar una imagen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88" y="4840943"/>
            <a:ext cx="6475412" cy="13042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3352800" y="268290"/>
            <a:ext cx="47019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Haga clic en el icono para agregar una imagen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3352800" y="2131937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Haga clic en el icono para agregar una imagen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5750500" y="2131937"/>
            <a:ext cx="2304288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Haga clic en el icono para agregar una imagen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212106" y="268288"/>
            <a:ext cx="164592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48918" y="268288"/>
            <a:ext cx="718073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43800" y="1035426"/>
            <a:ext cx="1322295" cy="5090739"/>
          </a:xfrm>
        </p:spPr>
        <p:txBody>
          <a:bodyPr vert="eaVert" anchor="t" anchorCtr="0"/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035426"/>
            <a:ext cx="6019800" cy="5109789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442913"/>
            <a:ext cx="7162800" cy="254794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sz="half" idx="1"/>
          </p:nvPr>
        </p:nvSpPr>
        <p:spPr>
          <a:xfrm>
            <a:off x="857251" y="1143000"/>
            <a:ext cx="3488267" cy="5029200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contenido 3"/>
          <p:cNvSpPr>
            <a:spLocks noGrp="1"/>
          </p:cNvSpPr>
          <p:nvPr>
            <p:ph sz="quarter" idx="2"/>
          </p:nvPr>
        </p:nvSpPr>
        <p:spPr>
          <a:xfrm>
            <a:off x="4548719" y="1143000"/>
            <a:ext cx="3490383" cy="2457450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5" name="Marcador de contenido 4"/>
          <p:cNvSpPr>
            <a:spLocks noGrp="1"/>
          </p:cNvSpPr>
          <p:nvPr>
            <p:ph sz="quarter" idx="3"/>
          </p:nvPr>
        </p:nvSpPr>
        <p:spPr>
          <a:xfrm>
            <a:off x="4548719" y="3714750"/>
            <a:ext cx="3490383" cy="2457450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2382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199" y="914400"/>
            <a:ext cx="6508377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s-ES_tradnl"/>
              <a:t>Clic para editar título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2209802"/>
            <a:ext cx="6508377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98659" y="6356352"/>
            <a:ext cx="175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F211D454-A893-5E4D-9D8B-185D411D2F66}" type="datetimeFigureOut">
              <a:rPr lang="es-ES_tradnl" smtClean="0"/>
              <a:pPr/>
              <a:t>8/6/26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812" y="6356352"/>
            <a:ext cx="6007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F1A3142-B669-3D43-A678-BE87468B7EF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56494" y="361018"/>
            <a:ext cx="5065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D9105310-0F44-0745-8481-186CA4789E4B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8" name="Imagen 7" descr="File:UNAL Aplicación Manizales.svg - Wikimedia Commons">
            <a:extLst>
              <a:ext uri="{FF2B5EF4-FFF2-40B4-BE49-F238E27FC236}">
                <a16:creationId xmlns:a16="http://schemas.microsoft.com/office/drawing/2014/main" id="{B3802A0D-3B80-FF93-46D1-F69BDB252CA8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457199" y="111479"/>
            <a:ext cx="1821392" cy="80292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5" r:id="rId1"/>
    <p:sldLayoutId id="2147483876" r:id="rId2"/>
    <p:sldLayoutId id="2147483877" r:id="rId3"/>
    <p:sldLayoutId id="2147483878" r:id="rId4"/>
    <p:sldLayoutId id="2147483879" r:id="rId5"/>
    <p:sldLayoutId id="2147483880" r:id="rId6"/>
    <p:sldLayoutId id="2147483881" r:id="rId7"/>
    <p:sldLayoutId id="2147483882" r:id="rId8"/>
    <p:sldLayoutId id="2147483883" r:id="rId9"/>
    <p:sldLayoutId id="2147483884" r:id="rId10"/>
    <p:sldLayoutId id="2147483885" r:id="rId11"/>
    <p:sldLayoutId id="2147483886" r:id="rId12"/>
    <p:sldLayoutId id="2147483887" r:id="rId13"/>
    <p:sldLayoutId id="2147483888" r:id="rId14"/>
    <p:sldLayoutId id="2147483889" r:id="rId15"/>
    <p:sldLayoutId id="2147483890" r:id="rId16"/>
    <p:sldLayoutId id="2147483891" r:id="rId17"/>
    <p:sldLayoutId id="2147483892" r:id="rId18"/>
    <p:sldLayoutId id="2147483893" r:id="rId19"/>
    <p:sldLayoutId id="2147483897" r:id="rId20"/>
    <p:sldLayoutId id="2147483898" r:id="rId2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s-ES_tradnl" sz="2800" dirty="0">
                <a:solidFill>
                  <a:schemeClr val="tx1"/>
                </a:solidFill>
              </a:rPr>
              <a:t>Datos estudiantes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_tradnl" sz="1400" b="1" dirty="0">
                <a:solidFill>
                  <a:schemeClr val="accent1"/>
                </a:solidFill>
              </a:rPr>
              <a:t>- Sebastián Valencia Carvajal (</a:t>
            </a:r>
            <a:r>
              <a:rPr lang="es-ES_tradnl" sz="1400" b="1" dirty="0" err="1">
                <a:solidFill>
                  <a:schemeClr val="accent1"/>
                </a:solidFill>
              </a:rPr>
              <a:t>sevalenciaca@unal.edu.co</a:t>
            </a:r>
            <a:r>
              <a:rPr lang="es-ES_tradnl" sz="1400" b="1" dirty="0">
                <a:solidFill>
                  <a:schemeClr val="accent1"/>
                </a:solidFill>
              </a:rPr>
              <a:t>)</a:t>
            </a:r>
          </a:p>
          <a:p>
            <a:r>
              <a:rPr lang="es-ES_tradnl" sz="1400" b="1" dirty="0">
                <a:solidFill>
                  <a:schemeClr val="accent1"/>
                </a:solidFill>
              </a:rPr>
              <a:t>- Daniel </a:t>
            </a:r>
            <a:r>
              <a:rPr lang="es-ES_tradnl" sz="1400" b="1" dirty="0" err="1">
                <a:solidFill>
                  <a:schemeClr val="accent1"/>
                </a:solidFill>
              </a:rPr>
              <a:t>Alzate</a:t>
            </a:r>
            <a:r>
              <a:rPr lang="es-ES_tradnl" sz="1400" b="1" dirty="0">
                <a:solidFill>
                  <a:schemeClr val="accent1"/>
                </a:solidFill>
              </a:rPr>
              <a:t> Ocampo (</a:t>
            </a:r>
            <a:r>
              <a:rPr lang="es-ES_tradnl" sz="1400" b="1" dirty="0" err="1">
                <a:solidFill>
                  <a:schemeClr val="accent1"/>
                </a:solidFill>
              </a:rPr>
              <a:t>dalzateo@unal.edu.co</a:t>
            </a:r>
            <a:r>
              <a:rPr lang="es-ES_tradnl" sz="1400" b="1" dirty="0">
                <a:solidFill>
                  <a:schemeClr val="accent1"/>
                </a:solidFill>
              </a:rPr>
              <a:t>)</a:t>
            </a:r>
          </a:p>
          <a:p>
            <a:r>
              <a:rPr lang="es-ES_tradnl" sz="1400" b="1" dirty="0">
                <a:solidFill>
                  <a:schemeClr val="accent1"/>
                </a:solidFill>
              </a:rPr>
              <a:t>- Santiago Valencia Saavedra (</a:t>
            </a:r>
            <a:r>
              <a:rPr lang="es-ES_tradnl" sz="1400" b="1" dirty="0" err="1">
                <a:solidFill>
                  <a:schemeClr val="accent1"/>
                </a:solidFill>
              </a:rPr>
              <a:t>savalenciasa@unal.edu.co</a:t>
            </a:r>
            <a:r>
              <a:rPr lang="es-ES_tradnl" sz="1400" b="1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3535838" y="502410"/>
            <a:ext cx="512353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>
                <a:solidFill>
                  <a:srgbClr val="FFFFFF"/>
                </a:solidFill>
              </a:rPr>
              <a:t>Automatización Inteligente de Facturación Electrónica con Agente </a:t>
            </a:r>
            <a:r>
              <a:rPr lang="es-ES" sz="4000" b="1" dirty="0" err="1">
                <a:solidFill>
                  <a:srgbClr val="FFFFFF"/>
                </a:solidFill>
              </a:rPr>
              <a:t>LangChain</a:t>
            </a:r>
            <a:endParaRPr lang="es-ES_tradnl" sz="3200" b="1" dirty="0">
              <a:solidFill>
                <a:srgbClr val="FFFFFF"/>
              </a:solidFill>
            </a:endParaRPr>
          </a:p>
        </p:txBody>
      </p:sp>
      <p:sp>
        <p:nvSpPr>
          <p:cNvPr id="4" name="Shape 17">
            <a:extLst>
              <a:ext uri="{FF2B5EF4-FFF2-40B4-BE49-F238E27FC236}">
                <a16:creationId xmlns:a16="http://schemas.microsoft.com/office/drawing/2014/main" id="{21AFB34D-08F3-B31A-B69F-169D700D7617}"/>
              </a:ext>
            </a:extLst>
          </p:cNvPr>
          <p:cNvSpPr/>
          <p:nvPr/>
        </p:nvSpPr>
        <p:spPr>
          <a:xfrm>
            <a:off x="384048" y="5998974"/>
            <a:ext cx="2606040" cy="713232"/>
          </a:xfrm>
          <a:prstGeom prst="rect">
            <a:avLst/>
          </a:prstGeom>
          <a:solidFill>
            <a:srgbClr val="EA4B7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18">
            <a:extLst>
              <a:ext uri="{FF2B5EF4-FFF2-40B4-BE49-F238E27FC236}">
                <a16:creationId xmlns:a16="http://schemas.microsoft.com/office/drawing/2014/main" id="{8BBBEF03-21BE-B42E-FD9C-E62686AC4D76}"/>
              </a:ext>
            </a:extLst>
          </p:cNvPr>
          <p:cNvSpPr/>
          <p:nvPr/>
        </p:nvSpPr>
        <p:spPr>
          <a:xfrm>
            <a:off x="475488" y="602640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</a:t>
            </a:r>
            <a:endParaRPr lang="en-US" sz="1000" dirty="0"/>
          </a:p>
        </p:txBody>
      </p:sp>
      <p:sp>
        <p:nvSpPr>
          <p:cNvPr id="6" name="Text 19">
            <a:extLst>
              <a:ext uri="{FF2B5EF4-FFF2-40B4-BE49-F238E27FC236}">
                <a16:creationId xmlns:a16="http://schemas.microsoft.com/office/drawing/2014/main" id="{BF1F4698-8332-F789-7B27-07AAEF87764D}"/>
              </a:ext>
            </a:extLst>
          </p:cNvPr>
          <p:cNvSpPr/>
          <p:nvPr/>
        </p:nvSpPr>
        <p:spPr>
          <a:xfrm>
            <a:off x="475488" y="627329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900" dirty="0"/>
          </a:p>
        </p:txBody>
      </p:sp>
      <p:sp>
        <p:nvSpPr>
          <p:cNvPr id="7" name="Text 20">
            <a:extLst>
              <a:ext uri="{FF2B5EF4-FFF2-40B4-BE49-F238E27FC236}">
                <a16:creationId xmlns:a16="http://schemas.microsoft.com/office/drawing/2014/main" id="{113CF7D0-402B-A925-89CD-F2D5AD9C3101}"/>
              </a:ext>
            </a:extLst>
          </p:cNvPr>
          <p:cNvSpPr/>
          <p:nvPr/>
        </p:nvSpPr>
        <p:spPr>
          <a:xfrm>
            <a:off x="2167128" y="625500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3.5</a:t>
            </a:r>
            <a:endParaRPr lang="en-US" sz="1300" dirty="0"/>
          </a:p>
        </p:txBody>
      </p:sp>
      <p:sp>
        <p:nvSpPr>
          <p:cNvPr id="9" name="Shape 21">
            <a:extLst>
              <a:ext uri="{FF2B5EF4-FFF2-40B4-BE49-F238E27FC236}">
                <a16:creationId xmlns:a16="http://schemas.microsoft.com/office/drawing/2014/main" id="{9659C244-671C-EDAC-7424-3CF15299A469}"/>
              </a:ext>
            </a:extLst>
          </p:cNvPr>
          <p:cNvSpPr/>
          <p:nvPr/>
        </p:nvSpPr>
        <p:spPr>
          <a:xfrm>
            <a:off x="3218688" y="5998974"/>
            <a:ext cx="2606040" cy="713232"/>
          </a:xfrm>
          <a:prstGeom prst="rect">
            <a:avLst/>
          </a:prstGeom>
          <a:solidFill>
            <a:srgbClr val="27A99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68778DDA-1639-A095-0E53-F70D22BC9C6D}"/>
              </a:ext>
            </a:extLst>
          </p:cNvPr>
          <p:cNvSpPr/>
          <p:nvPr/>
        </p:nvSpPr>
        <p:spPr>
          <a:xfrm>
            <a:off x="3310128" y="602640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</a:t>
            </a:r>
            <a:endParaRPr lang="en-US" sz="1000" dirty="0"/>
          </a:p>
        </p:txBody>
      </p:sp>
      <p:sp>
        <p:nvSpPr>
          <p:cNvPr id="11" name="Text 23">
            <a:extLst>
              <a:ext uri="{FF2B5EF4-FFF2-40B4-BE49-F238E27FC236}">
                <a16:creationId xmlns:a16="http://schemas.microsoft.com/office/drawing/2014/main" id="{9856C405-0E66-CC91-F4E9-D99FA532D24E}"/>
              </a:ext>
            </a:extLst>
          </p:cNvPr>
          <p:cNvSpPr/>
          <p:nvPr/>
        </p:nvSpPr>
        <p:spPr>
          <a:xfrm>
            <a:off x="3310128" y="627329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900" dirty="0"/>
          </a:p>
        </p:txBody>
      </p:sp>
      <p:sp>
        <p:nvSpPr>
          <p:cNvPr id="12" name="Text 24">
            <a:extLst>
              <a:ext uri="{FF2B5EF4-FFF2-40B4-BE49-F238E27FC236}">
                <a16:creationId xmlns:a16="http://schemas.microsoft.com/office/drawing/2014/main" id="{17323CB1-89BA-D5DB-4571-50FDBACAF6E0}"/>
              </a:ext>
            </a:extLst>
          </p:cNvPr>
          <p:cNvSpPr/>
          <p:nvPr/>
        </p:nvSpPr>
        <p:spPr>
          <a:xfrm>
            <a:off x="5001768" y="625500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4.5</a:t>
            </a:r>
            <a:endParaRPr lang="en-US" sz="1300" dirty="0"/>
          </a:p>
        </p:txBody>
      </p:sp>
      <p:sp>
        <p:nvSpPr>
          <p:cNvPr id="13" name="Shape 25">
            <a:extLst>
              <a:ext uri="{FF2B5EF4-FFF2-40B4-BE49-F238E27FC236}">
                <a16:creationId xmlns:a16="http://schemas.microsoft.com/office/drawing/2014/main" id="{699B4444-2EC2-B96F-6995-B9C96543F9FE}"/>
              </a:ext>
            </a:extLst>
          </p:cNvPr>
          <p:cNvSpPr/>
          <p:nvPr/>
        </p:nvSpPr>
        <p:spPr>
          <a:xfrm>
            <a:off x="6053328" y="5998974"/>
            <a:ext cx="2606040" cy="713232"/>
          </a:xfrm>
          <a:prstGeom prst="rect">
            <a:avLst/>
          </a:prstGeom>
          <a:solidFill>
            <a:srgbClr val="5B2D8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26">
            <a:extLst>
              <a:ext uri="{FF2B5EF4-FFF2-40B4-BE49-F238E27FC236}">
                <a16:creationId xmlns:a16="http://schemas.microsoft.com/office/drawing/2014/main" id="{5D88529C-00F3-BCB0-2B0C-41FC4447CD95}"/>
              </a:ext>
            </a:extLst>
          </p:cNvPr>
          <p:cNvSpPr/>
          <p:nvPr/>
        </p:nvSpPr>
        <p:spPr>
          <a:xfrm>
            <a:off x="6144768" y="602640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</a:t>
            </a:r>
            <a:endParaRPr lang="en-US" sz="1000" dirty="0"/>
          </a:p>
        </p:txBody>
      </p:sp>
      <p:sp>
        <p:nvSpPr>
          <p:cNvPr id="15" name="Text 27">
            <a:extLst>
              <a:ext uri="{FF2B5EF4-FFF2-40B4-BE49-F238E27FC236}">
                <a16:creationId xmlns:a16="http://schemas.microsoft.com/office/drawing/2014/main" id="{311D78F4-E3F9-1004-26A6-432BC1354983}"/>
              </a:ext>
            </a:extLst>
          </p:cNvPr>
          <p:cNvSpPr/>
          <p:nvPr/>
        </p:nvSpPr>
        <p:spPr>
          <a:xfrm>
            <a:off x="6144768" y="627329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Racionalidad</a:t>
            </a:r>
            <a:endParaRPr lang="en-US" sz="900" dirty="0"/>
          </a:p>
        </p:txBody>
      </p:sp>
      <p:sp>
        <p:nvSpPr>
          <p:cNvPr id="16" name="Text 28">
            <a:extLst>
              <a:ext uri="{FF2B5EF4-FFF2-40B4-BE49-F238E27FC236}">
                <a16:creationId xmlns:a16="http://schemas.microsoft.com/office/drawing/2014/main" id="{F7CDDF09-6BA8-0B07-9725-7C75875B35B4}"/>
              </a:ext>
            </a:extLst>
          </p:cNvPr>
          <p:cNvSpPr/>
          <p:nvPr/>
        </p:nvSpPr>
        <p:spPr>
          <a:xfrm>
            <a:off x="7836408" y="625500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5.0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8663" y="519366"/>
            <a:ext cx="6508377" cy="1143000"/>
          </a:xfrm>
        </p:spPr>
        <p:txBody>
          <a:bodyPr/>
          <a:lstStyle/>
          <a:p>
            <a:pPr algn="ctr"/>
            <a:r>
              <a:rPr lang="es-ES" dirty="0"/>
              <a:t>Agenda</a:t>
            </a:r>
            <a:br>
              <a:rPr lang="es-ES" dirty="0"/>
            </a:b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99325EB-6674-6C04-130B-DD4C258D3852}"/>
              </a:ext>
            </a:extLst>
          </p:cNvPr>
          <p:cNvSpPr txBox="1"/>
          <p:nvPr/>
        </p:nvSpPr>
        <p:spPr>
          <a:xfrm>
            <a:off x="457200" y="1867213"/>
            <a:ext cx="82295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Problema identificado</a:t>
            </a:r>
          </a:p>
          <a:p>
            <a:r>
              <a:rPr lang="es-CO" dirty="0"/>
              <a:t>En la empresa </a:t>
            </a:r>
            <a:r>
              <a:rPr lang="es-CO" dirty="0" err="1"/>
              <a:t>Suprokom</a:t>
            </a:r>
            <a:r>
              <a:rPr lang="es-CO" dirty="0"/>
              <a:t> SAS, la facturación electrónica se recibe vía correo electrónico. Un operario humano debe:</a:t>
            </a:r>
          </a:p>
          <a:p>
            <a:r>
              <a:rPr lang="es-CO" dirty="0"/>
              <a:t>1. Revisar correo por correo manualmente</a:t>
            </a:r>
          </a:p>
          <a:p>
            <a:r>
              <a:rPr lang="es-CO" dirty="0"/>
              <a:t>2. Descargar y descomprimir archivos ZIP adjuntos</a:t>
            </a:r>
          </a:p>
          <a:p>
            <a:r>
              <a:rPr lang="es-CO" dirty="0"/>
              <a:t>3. Abrir el PDF para verificar información</a:t>
            </a:r>
          </a:p>
          <a:p>
            <a:r>
              <a:rPr lang="es-CO" dirty="0"/>
              <a:t>4. Transcribir manualmente los datos (NIT, razón social, monto, fecha) a una hoja de cálculo</a:t>
            </a:r>
          </a:p>
          <a:p>
            <a:endParaRPr lang="es-CO" dirty="0"/>
          </a:p>
          <a:p>
            <a:r>
              <a:rPr lang="es-CO" dirty="0"/>
              <a:t>Este proceso es repetitivo, propenso a errores humanos y consume aproximadamente 30 minutos diarios con un volumen promedio de 10 facturas/día.</a:t>
            </a:r>
          </a:p>
        </p:txBody>
      </p:sp>
    </p:spTree>
    <p:extLst>
      <p:ext uri="{BB962C8B-B14F-4D97-AF65-F5344CB8AC3E}">
        <p14:creationId xmlns:p14="http://schemas.microsoft.com/office/powerpoint/2010/main" val="3456802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63C54A-3E42-FF87-AD17-529D7D107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25" y="1024573"/>
            <a:ext cx="6508377" cy="1143000"/>
          </a:xfrm>
        </p:spPr>
        <p:txBody>
          <a:bodyPr/>
          <a:lstStyle/>
          <a:p>
            <a:pPr algn="ctr"/>
            <a:r>
              <a:rPr lang="es-CO" dirty="0"/>
              <a:t>Introducción</a:t>
            </a:r>
            <a:br>
              <a:rPr lang="es-CO" dirty="0"/>
            </a:br>
            <a:endParaRPr lang="es-CO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C73B321-4C12-F2E0-4E8D-FEEBBA1365D2}"/>
              </a:ext>
            </a:extLst>
          </p:cNvPr>
          <p:cNvSpPr txBox="1"/>
          <p:nvPr/>
        </p:nvSpPr>
        <p:spPr>
          <a:xfrm>
            <a:off x="495757" y="1839817"/>
            <a:ext cx="7877061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/>
              <a:t>Propuesta de solución</a:t>
            </a:r>
          </a:p>
          <a:p>
            <a:r>
              <a:rPr lang="es-CO" dirty="0"/>
              <a:t>Desarrollar un sistema inteligente que automatice completamente este flujo:</a:t>
            </a:r>
          </a:p>
          <a:p>
            <a:r>
              <a:rPr lang="es-CO" dirty="0"/>
              <a:t>- Lectura automática de correos no leídos vía IMAP</a:t>
            </a:r>
          </a:p>
          <a:p>
            <a:r>
              <a:rPr lang="es-CO" dirty="0"/>
              <a:t>- Extracción y descompresión de archivos adjuntos (ZIP → PDF + XML)</a:t>
            </a:r>
          </a:p>
          <a:p>
            <a:r>
              <a:rPr lang="es-CO" dirty="0"/>
              <a:t>- </a:t>
            </a:r>
            <a:r>
              <a:rPr lang="es-CO" dirty="0" err="1"/>
              <a:t>Parseo</a:t>
            </a:r>
            <a:r>
              <a:rPr lang="es-CO" dirty="0"/>
              <a:t> estructurado del XML de factura electrónica colombiana (UBL 2.1)</a:t>
            </a:r>
          </a:p>
          <a:p>
            <a:r>
              <a:rPr lang="es-CO" dirty="0"/>
              <a:t>- Registro automático de datos en tabla/hoja de cálculo</a:t>
            </a:r>
          </a:p>
          <a:p>
            <a:r>
              <a:rPr lang="es-CO" dirty="0"/>
              <a:t>- Priorización inteligente de pagos mediante lógica difusa</a:t>
            </a:r>
          </a:p>
          <a:p>
            <a:endParaRPr lang="es-CO" dirty="0"/>
          </a:p>
          <a:p>
            <a:r>
              <a:rPr lang="es-CO" b="1" dirty="0"/>
              <a:t>Relevancia académica</a:t>
            </a:r>
          </a:p>
          <a:p>
            <a:r>
              <a:rPr lang="es-CO" dirty="0"/>
              <a:t>El proyecto integra conceptos de agentes inteligentes (</a:t>
            </a:r>
            <a:r>
              <a:rPr lang="es-CO" dirty="0" err="1"/>
              <a:t>ReAct</a:t>
            </a:r>
            <a:r>
              <a:rPr lang="es-CO" dirty="0"/>
              <a:t>), procesamiento de lenguaje natural (GPT-4o), automatización de flujos (N8n) y racionalidad formal (lógica difusa), aplicados a un caso de uso empresarial real.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44278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8668"/>
            <a:ext cx="8757501" cy="534382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85725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Justificación del Proyecto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8A41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82880" y="574929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Inteligencia Artificial — UNAL Sede Manizales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168021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relevante este proyecto?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2155698"/>
            <a:ext cx="2788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1200"/>
          </a:p>
        </p:txBody>
      </p:sp>
      <p:sp>
        <p:nvSpPr>
          <p:cNvPr id="8" name="Shape 6"/>
          <p:cNvSpPr/>
          <p:nvPr/>
        </p:nvSpPr>
        <p:spPr>
          <a:xfrm>
            <a:off x="274320" y="2155698"/>
            <a:ext cx="2788920" cy="347472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s-CO" sz="1200"/>
          </a:p>
        </p:txBody>
      </p:sp>
      <p:sp>
        <p:nvSpPr>
          <p:cNvPr id="9" name="Text 7"/>
          <p:cNvSpPr/>
          <p:nvPr/>
        </p:nvSpPr>
        <p:spPr>
          <a:xfrm>
            <a:off x="365760" y="215569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Problema identificado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76322"/>
            <a:ext cx="2606040" cy="2788920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 sz="1200"/>
          </a:p>
        </p:txBody>
      </p:sp>
      <p:sp>
        <p:nvSpPr>
          <p:cNvPr id="11" name="Text 9"/>
          <p:cNvSpPr/>
          <p:nvPr/>
        </p:nvSpPr>
        <p:spPr>
          <a:xfrm>
            <a:off x="438912" y="2631186"/>
            <a:ext cx="2459736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Describa el problema o necesidad que motiva el proyecto. ¿Qué situación del mundo real busca resolver?</a:t>
            </a:r>
            <a:endParaRPr lang="en-US" sz="1200" dirty="0"/>
          </a:p>
          <a:p>
            <a:endParaRPr lang="en-US" sz="1200" dirty="0"/>
          </a:p>
          <a:p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155698"/>
            <a:ext cx="2788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1200"/>
          </a:p>
        </p:txBody>
      </p:sp>
      <p:sp>
        <p:nvSpPr>
          <p:cNvPr id="13" name="Shape 11"/>
          <p:cNvSpPr/>
          <p:nvPr/>
        </p:nvSpPr>
        <p:spPr>
          <a:xfrm>
            <a:off x="3246120" y="2155698"/>
            <a:ext cx="2788920" cy="347472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s-CO" sz="1200"/>
          </a:p>
        </p:txBody>
      </p:sp>
      <p:sp>
        <p:nvSpPr>
          <p:cNvPr id="14" name="Text 12"/>
          <p:cNvSpPr/>
          <p:nvPr/>
        </p:nvSpPr>
        <p:spPr>
          <a:xfrm>
            <a:off x="3337560" y="215569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Propuesta de solución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2576322"/>
            <a:ext cx="2606040" cy="2788920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 sz="1200"/>
          </a:p>
        </p:txBody>
      </p:sp>
      <p:sp>
        <p:nvSpPr>
          <p:cNvPr id="16" name="Text 14"/>
          <p:cNvSpPr/>
          <p:nvPr/>
        </p:nvSpPr>
        <p:spPr>
          <a:xfrm>
            <a:off x="3410712" y="2631186"/>
            <a:ext cx="2459736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la combinación de automatización (N8n) e IA conversacional (LangChain) resuelve el problema?</a:t>
            </a:r>
            <a:endParaRPr lang="en-US" sz="1200" dirty="0"/>
          </a:p>
          <a:p>
            <a:endParaRPr lang="en-US" sz="1200" dirty="0"/>
          </a:p>
          <a:p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155698"/>
            <a:ext cx="278892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 sz="1200"/>
          </a:p>
        </p:txBody>
      </p:sp>
      <p:sp>
        <p:nvSpPr>
          <p:cNvPr id="18" name="Shape 16"/>
          <p:cNvSpPr/>
          <p:nvPr/>
        </p:nvSpPr>
        <p:spPr>
          <a:xfrm>
            <a:off x="6217920" y="2155698"/>
            <a:ext cx="2788920" cy="347472"/>
          </a:xfrm>
          <a:prstGeom prst="rect">
            <a:avLst/>
          </a:prstGeom>
          <a:solidFill>
            <a:srgbClr val="003087"/>
          </a:solidFill>
          <a:ln/>
        </p:spPr>
        <p:txBody>
          <a:bodyPr/>
          <a:lstStyle/>
          <a:p>
            <a:endParaRPr lang="es-CO" sz="1200"/>
          </a:p>
        </p:txBody>
      </p:sp>
      <p:sp>
        <p:nvSpPr>
          <p:cNvPr id="19" name="Text 17"/>
          <p:cNvSpPr/>
          <p:nvPr/>
        </p:nvSpPr>
        <p:spPr>
          <a:xfrm>
            <a:off x="6309360" y="215569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Relevancia académica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9360" y="2576322"/>
            <a:ext cx="2606040" cy="2788920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 sz="1200"/>
          </a:p>
        </p:txBody>
      </p:sp>
      <p:sp>
        <p:nvSpPr>
          <p:cNvPr id="21" name="Text 19"/>
          <p:cNvSpPr/>
          <p:nvPr/>
        </p:nvSpPr>
        <p:spPr>
          <a:xfrm>
            <a:off x="6382512" y="2631186"/>
            <a:ext cx="2459736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competencias de la </a:t>
            </a:r>
            <a:r>
              <a:rPr lang="en-US" sz="1200" i="1" dirty="0" err="1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</a:t>
            </a: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 IA se aplican? </a:t>
            </a:r>
            <a:endParaRPr lang="en-US" sz="1200" dirty="0"/>
          </a:p>
          <a:p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989838"/>
            <a:ext cx="8778240" cy="502920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989838"/>
            <a:ext cx="8251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N8n — Descripción del Flujo de Automatización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74929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</a:t>
            </a: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 Inteligencia Artificial — UNAL Sede Manizales   |   NIVEL 1 — hasta 3.5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 ≤ 3.5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698498"/>
            <a:ext cx="50292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11480" y="177165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Descripción del Pipeline N8n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256282"/>
            <a:ext cx="384048" cy="384048"/>
          </a:xfrm>
          <a:prstGeom prst="ellipse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225628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23799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ENTRADA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2512314"/>
            <a:ext cx="4297680" cy="621792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96112" y="2567178"/>
            <a:ext cx="415137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trigger: Webhook, Cron, Manual…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Descripción: [complete aquí]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371850"/>
            <a:ext cx="384048" cy="384048"/>
          </a:xfrm>
          <a:prstGeom prst="ellipse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65760" y="33718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35356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22960" y="3627882"/>
            <a:ext cx="4297680" cy="621792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96112" y="3682746"/>
            <a:ext cx="415137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de lógica, llamadas API, LLM, transformación…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Descripción: [complete aquí]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4487418"/>
            <a:ext cx="384048" cy="384048"/>
          </a:xfrm>
          <a:prstGeom prst="ellipse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65760" y="44874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46913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/ ACCIÓN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" y="4743450"/>
            <a:ext cx="4297680" cy="621792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896112" y="4798314"/>
            <a:ext cx="4151376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Telegram, base de datos, HTTP Response…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Descripción: [complete aquí]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32120" y="1698498"/>
            <a:ext cx="333756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5532120" y="1698498"/>
            <a:ext cx="3337560" cy="347472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623560" y="169849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Captura del Workflow en N8n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2100834"/>
            <a:ext cx="3154680" cy="166420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696712" y="2155698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[Inserte captura de pantalla del flujo completo en N8n — exportar como imagen PNG]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32120" y="4039362"/>
            <a:ext cx="3337560" cy="1636776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5532120" y="4039362"/>
            <a:ext cx="3337560" cy="347472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623560" y="403936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Métricas Generales del Flujo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4469130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N.° de nodos activos: ___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0" y="4725162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Tipo de trigger: ___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0" y="4981194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Tiempo promedio de ejecución: ___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0" y="5237226"/>
            <a:ext cx="31089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Tasa de éxito en pruebas: ___ %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44694"/>
            <a:ext cx="8961120" cy="593208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44694"/>
            <a:ext cx="8423453" cy="593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N8n — Paso a Paso: Creación del Flujo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97" y="5932746"/>
            <a:ext cx="9144000" cy="251460"/>
          </a:xfrm>
          <a:prstGeom prst="rect">
            <a:avLst/>
          </a:prstGeom>
          <a:solidFill>
            <a:srgbClr val="C8A41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82880" y="5936733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</a:t>
            </a: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Inteligencia Artificial — UNAL Sede Manizales   |   NIVEL 1 — hasta 3.5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 ≤ 3.5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680210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4320" y="1680210"/>
            <a:ext cx="4160520" cy="292608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84048" y="2155698"/>
            <a:ext cx="384048" cy="384048"/>
          </a:xfrm>
          <a:prstGeom prst="ellipse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84048" y="21556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168021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Instalar / Acceder a N8n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41248" y="2027682"/>
            <a:ext cx="3429000" cy="79552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914400" y="2082546"/>
            <a:ext cx="32826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 acceso o versión utilizada. Self-hosted / Cloud community.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1680210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709160" y="1680210"/>
            <a:ext cx="4160520" cy="292608"/>
          </a:xfrm>
          <a:prstGeom prst="rect">
            <a:avLst/>
          </a:prstGeom>
          <a:solidFill>
            <a:srgbClr val="C030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4818888" y="2155698"/>
            <a:ext cx="384048" cy="384048"/>
          </a:xfrm>
          <a:prstGeom prst="ellipse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818888" y="215569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68021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Crear nuevo Workflow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76088" y="2027682"/>
            <a:ext cx="3429000" cy="79552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349240" y="2082546"/>
            <a:ext cx="32826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workflow, descripción inicial del caso de uso.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97530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274320" y="3097530"/>
            <a:ext cx="4160520" cy="292608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384048" y="3573018"/>
            <a:ext cx="384048" cy="384048"/>
          </a:xfrm>
          <a:prstGeom prst="ellipse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84048" y="35730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09753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3: Configurar el Trigger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41248" y="3445002"/>
            <a:ext cx="3429000" cy="79552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914400" y="3499866"/>
            <a:ext cx="32826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trigger elegido y configuración. Capturas de los parámetros.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3097530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709160" y="3097530"/>
            <a:ext cx="4160520" cy="292608"/>
          </a:xfrm>
          <a:prstGeom prst="rect">
            <a:avLst/>
          </a:prstGeom>
          <a:solidFill>
            <a:srgbClr val="C030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818888" y="3573018"/>
            <a:ext cx="384048" cy="384048"/>
          </a:xfrm>
          <a:prstGeom prst="ellipse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818888" y="357301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00600" y="309753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4: Agregar nodos de procesamiento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76088" y="3445002"/>
            <a:ext cx="3429000" cy="79552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5349240" y="3499866"/>
            <a:ext cx="32826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nodos en orden. Configuración de cada nodo.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514850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7" name="Shape 35"/>
          <p:cNvSpPr/>
          <p:nvPr/>
        </p:nvSpPr>
        <p:spPr>
          <a:xfrm>
            <a:off x="274320" y="4514850"/>
            <a:ext cx="4160520" cy="292608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Shape 36"/>
          <p:cNvSpPr/>
          <p:nvPr/>
        </p:nvSpPr>
        <p:spPr>
          <a:xfrm>
            <a:off x="384048" y="4990338"/>
            <a:ext cx="384048" cy="384048"/>
          </a:xfrm>
          <a:prstGeom prst="ellipse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384048" y="49903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5760" y="451485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5: Configurar salida y pruebas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41248" y="4862322"/>
            <a:ext cx="3429000" cy="79552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914400" y="4917186"/>
            <a:ext cx="32826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salida. Resultado esperado. Prueba de ejecución manual.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4514850"/>
            <a:ext cx="41605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4709160" y="4514850"/>
            <a:ext cx="4160520" cy="292608"/>
          </a:xfrm>
          <a:prstGeom prst="rect">
            <a:avLst/>
          </a:prstGeom>
          <a:solidFill>
            <a:srgbClr val="C0306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Shape 43"/>
          <p:cNvSpPr/>
          <p:nvPr/>
        </p:nvSpPr>
        <p:spPr>
          <a:xfrm>
            <a:off x="4818888" y="4990338"/>
            <a:ext cx="384048" cy="384048"/>
          </a:xfrm>
          <a:prstGeom prst="ellipse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44"/>
          <p:cNvSpPr/>
          <p:nvPr/>
        </p:nvSpPr>
        <p:spPr>
          <a:xfrm>
            <a:off x="4818888" y="49903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00600" y="451485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6: Activar y monitorear el flujo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276088" y="4862322"/>
            <a:ext cx="3429000" cy="79552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5349240" y="4917186"/>
            <a:ext cx="32826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workflow activo. Cómo se verificó el funcionamiento.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40130"/>
            <a:ext cx="8961120" cy="502920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1040130"/>
            <a:ext cx="84234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N8n — Video de Demostración y JSON del Flujo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749290"/>
            <a:ext cx="9144000" cy="251460"/>
          </a:xfrm>
          <a:prstGeom prst="rect">
            <a:avLst/>
          </a:prstGeom>
          <a:solidFill>
            <a:srgbClr val="C8A41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82880" y="574929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Inteligencia Artificial — UNAL Sede Manizales   |   NIVEL 1 — hasta 3.5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 ≤ 3.5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698498"/>
            <a:ext cx="420624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4320" y="1698498"/>
            <a:ext cx="4206240" cy="384048"/>
          </a:xfrm>
          <a:prstGeom prst="rect">
            <a:avLst/>
          </a:prstGeom>
          <a:solidFill>
            <a:srgbClr val="EA4B7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65760" y="169849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Video: Creación y Ejecución del Flujo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155698"/>
            <a:ext cx="4023360" cy="150876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65760" y="2155698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rgbClr val="EA4B71"/>
                </a:solidFill>
              </a:rPr>
              <a:t>▶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65760" y="2155698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(Insertar miniatura del video o pantallazos clave)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373761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del video: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98449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Duración: 3 – 8 minutos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418566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Mostrar creación del workflow completo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38683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Demostrar ejecución en tiempo real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58800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Narración explicando cada nodo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78917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Subir a YouTube / Drive e insertar enlace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5017770"/>
            <a:ext cx="4023360" cy="530352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38912" y="5072634"/>
            <a:ext cx="387705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URL del video: [Pegar enlace aquí]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698498"/>
            <a:ext cx="411480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4754880" y="1698498"/>
            <a:ext cx="4114800" cy="384048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846320" y="169849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  JSON del Flujo N8n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137410"/>
            <a:ext cx="3931920" cy="2560320"/>
          </a:xfrm>
          <a:prstGeom prst="rect">
            <a:avLst/>
          </a:prstGeom>
          <a:solidFill>
            <a:srgbClr val="1E1E1E"/>
          </a:solidFill>
          <a:ln w="10160">
            <a:solidFill>
              <a:srgbClr val="EA4B7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937760" y="222885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Pegue aquí el JSON exportado de N8n
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</a:t>
            </a: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"Nombre del workflow",
</a:t>
            </a: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"nodes"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 ... ],
</a:t>
            </a:r>
            <a:r>
              <a:rPr lang="en-US" sz="8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"connections"</a:t>
            </a: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... }
}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477088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Instrucciones de exportación: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501777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N8n → Menú ⋮ → Download → JSON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46320" y="522808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Adjuntar archivo en el repositorio Git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543839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Ruta sugerida: /workflow/flujo_principal.json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251" y="1026882"/>
            <a:ext cx="9023498" cy="529413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34571" y="1026882"/>
            <a:ext cx="8482088" cy="529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LangChain — Arquitectura del Sistema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0251" y="6270498"/>
            <a:ext cx="9144000" cy="251460"/>
          </a:xfrm>
          <a:prstGeom prst="rect">
            <a:avLst/>
          </a:prstGeom>
          <a:solidFill>
            <a:srgbClr val="C8A41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82880" y="6270498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</a:t>
            </a: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Inteligencia Artificial — UNAL Sede Manizales   |   NIVEL 2 — hasta 4.5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 ≤ 4.5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63449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27A9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Principales de la Implementación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64258"/>
            <a:ext cx="4160520" cy="1719072"/>
          </a:xfrm>
          <a:prstGeom prst="rect">
            <a:avLst/>
          </a:prstGeom>
          <a:solidFill>
            <a:srgbClr val="1A4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74320" y="2064258"/>
            <a:ext cx="4160520" cy="365760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206425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LLM — Modelo de Lenguaje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484882"/>
            <a:ext cx="3977640" cy="120700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38912" y="2539746"/>
            <a:ext cx="38313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utilizado: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GPT-4o  □ Claude 3  □ Llama 3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Gemini  □ Otro: ___</a:t>
            </a:r>
            <a:endParaRPr lang="en-US" sz="850" dirty="0"/>
          </a:p>
          <a:p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(temperatura, max_tokens):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2064258"/>
            <a:ext cx="4160520" cy="1719072"/>
          </a:xfrm>
          <a:prstGeom prst="rect">
            <a:avLst/>
          </a:prstGeom>
          <a:solidFill>
            <a:srgbClr val="1A3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709160" y="2064258"/>
            <a:ext cx="4160520" cy="365760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00600" y="206425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ChatPromptTemplate — Plantilla de Prompts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484882"/>
            <a:ext cx="3977640" cy="120700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873752" y="2539746"/>
            <a:ext cx="38313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prompt: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System message: [complete]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Human template: [complete]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Variables de entrada: [complete]</a:t>
            </a:r>
            <a:endParaRPr lang="en-US" sz="850" dirty="0"/>
          </a:p>
          <a:p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de uso en código: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938778"/>
            <a:ext cx="4160520" cy="1719072"/>
          </a:xfrm>
          <a:prstGeom prst="rect">
            <a:avLst/>
          </a:prstGeom>
          <a:solidFill>
            <a:srgbClr val="0E4D4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274320" y="3938778"/>
            <a:ext cx="4160520" cy="365760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65760" y="393877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Tools — Herramientas del Agente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359402"/>
            <a:ext cx="3977640" cy="120700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38912" y="4414266"/>
            <a:ext cx="38313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implementadas: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Búsqueda web  □ Base de datos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API externa   □ Calculadora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Custom tool: ___</a:t>
            </a:r>
            <a:endParaRPr lang="en-US" sz="850" dirty="0"/>
          </a:p>
          <a:p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Justificación de elección: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3938778"/>
            <a:ext cx="4160520" cy="1719072"/>
          </a:xfrm>
          <a:prstGeom prst="rect">
            <a:avLst/>
          </a:prstGeom>
          <a:solidFill>
            <a:srgbClr val="3D1A6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709160" y="3938778"/>
            <a:ext cx="4160520" cy="365760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800600" y="393877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Chain / Agent — Cadena de Razonamiento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4359402"/>
            <a:ext cx="3977640" cy="120700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73752" y="4414266"/>
            <a:ext cx="383133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cadena: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LLMChain  □ SequentialChain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AgentExecutor  □ LCEL</a:t>
            </a:r>
            <a:endParaRPr lang="en-US" sz="850" dirty="0"/>
          </a:p>
          <a:p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flujo de razonamiento: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56930"/>
            <a:ext cx="8961120" cy="586120"/>
          </a:xfrm>
          <a:prstGeom prst="rect">
            <a:avLst/>
          </a:prstGeom>
          <a:solidFill>
            <a:srgbClr val="1C3D5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274320" y="956930"/>
            <a:ext cx="8423453" cy="58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LangChain — Código, Chain of Thought y Persistencia (RAG)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377940"/>
            <a:ext cx="9144000" cy="251460"/>
          </a:xfrm>
          <a:prstGeom prst="rect">
            <a:avLst/>
          </a:prstGeom>
          <a:solidFill>
            <a:srgbClr val="C8A41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82880" y="637794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Espdcialización</a:t>
            </a: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50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Inteligencia Artificial — UNAL Sede Manizales   |   NIVEL 2 — hasta 4.5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 ≤ 4.5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661922"/>
            <a:ext cx="4846320" cy="4005072"/>
          </a:xfrm>
          <a:prstGeom prst="rect">
            <a:avLst/>
          </a:prstGeom>
          <a:solidFill>
            <a:srgbClr val="1E1E1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4320" y="1661922"/>
            <a:ext cx="4846320" cy="292608"/>
          </a:xfrm>
          <a:prstGeom prst="rect">
            <a:avLst/>
          </a:prstGeom>
          <a:solidFill>
            <a:srgbClr val="007AC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65760" y="166192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 Fragmento de Código — LangChain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000250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langchain_core.prompts </a:t>
            </a: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ChatPromptTemplate
</a:t>
            </a: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langchain_openai </a:t>
            </a:r>
            <a:r>
              <a:rPr lang="en-US" sz="8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ChatOpenAI
</a:t>
            </a: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✏️ Reemplace con su prompt real
</a:t>
            </a: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= ChatPromptTemplate.</a:t>
            </a: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from_messages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
</a:t>
            </a: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("system"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"Su rol..."),
</a:t>
            </a: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("human"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"{input}"),
])
</a:t>
            </a: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ChatOpenAI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(model=</a:t>
            </a:r>
            <a:r>
              <a:rPr lang="en-US" sz="8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"gpt-4o"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temperature=</a:t>
            </a:r>
            <a:r>
              <a:rPr lang="en-US" sz="8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chain = prompt | llm
</a:t>
            </a:r>
            <a:r>
              <a:rPr lang="en-US" sz="80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✏️ Complete con su lógica de agente
</a:t>
            </a:r>
            <a:r>
              <a:rPr lang="en-US" sz="8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chain.</a:t>
            </a: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({"input": "..."})
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349240" y="1661922"/>
            <a:ext cx="352044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5349240" y="1661922"/>
            <a:ext cx="3520440" cy="347472"/>
          </a:xfrm>
          <a:prstGeom prst="rect">
            <a:avLst/>
          </a:prstGeom>
          <a:solidFill>
            <a:srgbClr val="8B451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440680" y="166192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Cadena de Pensamiento (CoT)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2064258"/>
            <a:ext cx="3337560" cy="1316736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513832" y="2119122"/>
            <a:ext cx="3191256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¿Aplica reasoning step-by-step?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Sí  □ No</a:t>
            </a:r>
            <a:endParaRPr lang="en-US" sz="900" dirty="0"/>
          </a:p>
          <a:p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usada: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Zero-shot CoT  □ Few-shot  □ ReAct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Tree of Thought  □ Otra: ___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[Explique cómo se implementa]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49240" y="3646170"/>
            <a:ext cx="3520440" cy="2020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349240" y="3646170"/>
            <a:ext cx="3520440" cy="347472"/>
          </a:xfrm>
          <a:prstGeom prst="rect">
            <a:avLst/>
          </a:prstGeom>
          <a:solidFill>
            <a:srgbClr val="1A6B5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440680" y="364617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Persistencia y RAG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40680" y="4048506"/>
            <a:ext cx="3337560" cy="1536192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513832" y="4103370"/>
            <a:ext cx="3191256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¿Aplica RAG o memoria persistente?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Sí  □ No</a:t>
            </a:r>
            <a:endParaRPr lang="en-US" sz="900" dirty="0"/>
          </a:p>
          <a:p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usado: □ FAISS □ Chroma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Pinecone □ Qdrant □ Otro: ___</a:t>
            </a:r>
            <a:endParaRPr lang="en-US" sz="900" dirty="0"/>
          </a:p>
          <a:p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documentos indexados: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900" dirty="0"/>
          </a:p>
          <a:p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retrieval: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17270"/>
            <a:ext cx="8961120" cy="525780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1017270"/>
            <a:ext cx="8423453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LangChain — Video de Funcionamiento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15597"/>
            <a:ext cx="9144000" cy="251460"/>
          </a:xfrm>
          <a:prstGeom prst="rect">
            <a:avLst/>
          </a:prstGeom>
          <a:solidFill>
            <a:srgbClr val="C8A41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82880" y="6415597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Maestría en Inteligencia Artificial — UNAL Sede Manizales   |   NIVEL 2 — hasta 4.5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 ≤ 4.5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" y="1707642"/>
            <a:ext cx="6400800" cy="3291840"/>
          </a:xfrm>
          <a:prstGeom prst="rect">
            <a:avLst/>
          </a:prstGeom>
          <a:solidFill>
            <a:srgbClr val="11111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371600" y="172593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000" dirty="0">
                <a:solidFill>
                  <a:srgbClr val="27A99E"/>
                </a:solidFill>
              </a:rPr>
              <a:t>▶</a:t>
            </a:r>
            <a:endParaRPr lang="en-US" sz="7000" dirty="0"/>
          </a:p>
        </p:txBody>
      </p:sp>
      <p:sp>
        <p:nvSpPr>
          <p:cNvPr id="10" name="Text 8"/>
          <p:cNvSpPr/>
          <p:nvPr/>
        </p:nvSpPr>
        <p:spPr>
          <a:xfrm>
            <a:off x="1371600" y="1725930"/>
            <a:ext cx="640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/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(Inserte miniatura o screenshot del video de LangChain)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71600" y="5109210"/>
            <a:ext cx="6400800" cy="47548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444752" y="5164074"/>
            <a:ext cx="625449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URL del video LangChain: [Pegar enlace — YouTube / Drive]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5493258"/>
            <a:ext cx="2011680" cy="347472"/>
          </a:xfrm>
          <a:prstGeom prst="rect">
            <a:avLst/>
          </a:prstGeom>
          <a:solidFill>
            <a:srgbClr val="27A99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74320" y="5493258"/>
            <a:ext cx="2011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/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 Duración:</a:t>
            </a:r>
            <a:endParaRPr lang="en-US" sz="750" dirty="0"/>
          </a:p>
          <a:p>
            <a:pPr algn="ctr"/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10 min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423160" y="5493258"/>
            <a:ext cx="2011680" cy="347472"/>
          </a:xfrm>
          <a:prstGeom prst="rect">
            <a:avLst/>
          </a:prstGeom>
          <a:solidFill>
            <a:srgbClr val="27A99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423160" y="5493258"/>
            <a:ext cx="2011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/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Mostrar:</a:t>
            </a:r>
            <a:endParaRPr lang="en-US" sz="750" dirty="0"/>
          </a:p>
          <a:p>
            <a:pPr algn="ctr"/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real del agente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0" y="5493258"/>
            <a:ext cx="2011680" cy="347472"/>
          </a:xfrm>
          <a:prstGeom prst="rect">
            <a:avLst/>
          </a:prstGeom>
          <a:solidFill>
            <a:srgbClr val="27A99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0" y="5493258"/>
            <a:ext cx="2011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/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Narrar:</a:t>
            </a:r>
            <a:endParaRPr lang="en-US" sz="750" dirty="0"/>
          </a:p>
          <a:p>
            <a:pPr algn="ctr"/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componente LangChain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720840" y="5493258"/>
            <a:ext cx="2011680" cy="347472"/>
          </a:xfrm>
          <a:prstGeom prst="rect">
            <a:avLst/>
          </a:prstGeom>
          <a:solidFill>
            <a:srgbClr val="27A99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720840" y="5493258"/>
            <a:ext cx="20116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/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Incluir:</a:t>
            </a:r>
            <a:endParaRPr lang="en-US" sz="750" dirty="0"/>
          </a:p>
          <a:p>
            <a:pPr algn="ctr"/>
            <a:r>
              <a:rPr lang="en-US" sz="7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razonamiento / output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962406"/>
            <a:ext cx="8869680" cy="525780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962406"/>
            <a:ext cx="8337499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Técnica Racional / Inteligente — Justificación y Diseño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344713"/>
            <a:ext cx="9144000" cy="251460"/>
          </a:xfrm>
          <a:prstGeom prst="rect">
            <a:avLst/>
          </a:prstGeom>
          <a:solidFill>
            <a:srgbClr val="C8A41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182880" y="6344713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</a:t>
            </a: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Inteligencia Artificial — UNAL Sede Manizales   |   NIVEL 3 — nota 5.0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  = 5.0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634490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Seleccione y desarrolle UNA o más estrategias de racionalidad: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72818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274320" y="1972818"/>
            <a:ext cx="4160520" cy="347472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65760" y="197281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🌫️  Lógica Difusa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375154"/>
            <a:ext cx="3977640" cy="1188720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38912" y="2430018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Variables lingüísticas definidas: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[ej. bajo, medio, alto]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Funciones de membresía: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[trapezoidal, triangular, gaussiana]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Reglas IF-THEN (mínimo 5):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[complete aquí]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Desfusificación: [método]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1972818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709160" y="1972818"/>
            <a:ext cx="4160520" cy="347472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00600" y="197281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Sistema Experto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375154"/>
            <a:ext cx="3977640" cy="1188720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873752" y="2430018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de conocimiento: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N.° de reglas: ___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Hechos iniciales: [complete]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Motor de inferencia: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□ Hacia adelante  □ Hacia atrás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Herramienta: □ pyknow □ experta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Ejemplo de regla: [complete]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87477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274320" y="3874770"/>
            <a:ext cx="4160520" cy="347472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65760" y="387477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Redes Neuronales / DL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277106"/>
            <a:ext cx="3977640" cy="1188720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38912" y="4331970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Arquitectura: [CNN/RNN/Transformer]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N.° capas / neuronas: ___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Dataset: [tamaño, origen]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Función de pérdida: ___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Métricas: Acc ___ / F1 ___ / AUC ___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Framework: □ TF □ PyTorch □ Keras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3874770"/>
            <a:ext cx="416052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709160" y="3874770"/>
            <a:ext cx="4160520" cy="347472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800600" y="387477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Machine Learning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4277106"/>
            <a:ext cx="3977640" cy="1188720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73752" y="4331970"/>
            <a:ext cx="3831336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Algoritmo: [XGBoost/RF/SVM/...]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Tipo: □ Supervisado □ No supervisado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Features principales: [complete]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Validación: □ k-fold □ Hold-out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Accuracy: ___ / Precision: ___</a:t>
            </a:r>
            <a:endParaRPr lang="en-US" sz="850" dirty="0"/>
          </a:p>
          <a:p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Recall: ___ / F1-Score: ___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92372"/>
            <a:ext cx="8869680" cy="550678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992372"/>
            <a:ext cx="8337499" cy="550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Resultados de la Técnica Racional — Métricas y Análisis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498080" y="166192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  = 5.0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680210"/>
            <a:ext cx="4160520" cy="40050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274320" y="1680210"/>
            <a:ext cx="4160520" cy="347472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65760" y="168021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Métricas de Evaluación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1912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Rendimiento del modelo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37515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Accuracy / Exactitud: ____%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60375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Precision: ____%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283235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Recall: ____%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06095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F1-Score: ____%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36270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Calidad del sistema integrado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61873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Tiempo de respuesta promedio: ____ 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84733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Tasa de éxito de interacciones: ____%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075938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N.° de casos de prueba ejecutados: ____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437769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b="1" dirty="0">
                <a:solidFill>
                  <a:srgbClr val="5B2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Valor agregado respecto a Nivel 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63372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Mejora en precisión: ____%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486232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Reducción de errores: ____%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" y="509092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• Descripción cualitativa: [complete]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680210"/>
            <a:ext cx="41148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663440" y="1680210"/>
            <a:ext cx="4114800" cy="347472"/>
          </a:xfrm>
          <a:prstGeom prst="rect">
            <a:avLst/>
          </a:prstGeom>
          <a:solidFill>
            <a:srgbClr val="55555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754880" y="168021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Gráfico de Resultados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082546"/>
            <a:ext cx="3931920" cy="1554480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4828032" y="2137410"/>
            <a:ext cx="3785616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[Inserte gráfico de barras, curva ROC, matriz de confusión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otro visual de métricas del modelo]</a:t>
            </a:r>
            <a:endParaRPr lang="en-US" sz="900" dirty="0"/>
          </a:p>
          <a:p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matplotlib / seaborn / plotly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893058"/>
            <a:ext cx="4114800" cy="17922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663440" y="3893058"/>
            <a:ext cx="4114800" cy="347472"/>
          </a:xfrm>
          <a:prstGeom prst="rect">
            <a:avLst/>
          </a:prstGeom>
          <a:solidFill>
            <a:srgbClr val="5B2D8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754880" y="389305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Análisis Crítico e Integración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4295394"/>
            <a:ext cx="3931920" cy="1298448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4828032" y="4350258"/>
            <a:ext cx="3785616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integra la técnica en el pipeline LangChain?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limitaciones o sesgos se identificaron?</a:t>
            </a:r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mejoras propondría el grupo?</a:t>
            </a:r>
            <a:endParaRPr lang="en-US" sz="900" dirty="0"/>
          </a:p>
          <a:p>
            <a:endParaRPr lang="en-US" sz="900" dirty="0"/>
          </a:p>
          <a:p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 con análisis del equipo]</a:t>
            </a:r>
            <a:endParaRPr lang="en-US" sz="900" dirty="0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CF2EFFC3-3D0A-CED3-0137-649870FD54AF}"/>
              </a:ext>
            </a:extLst>
          </p:cNvPr>
          <p:cNvSpPr/>
          <p:nvPr/>
        </p:nvSpPr>
        <p:spPr>
          <a:xfrm>
            <a:off x="0" y="6344713"/>
            <a:ext cx="9144000" cy="251460"/>
          </a:xfrm>
          <a:prstGeom prst="rect">
            <a:avLst/>
          </a:prstGeom>
          <a:solidFill>
            <a:srgbClr val="C8A41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DCC408F1-98FE-8135-F13B-51FA1A023D43}"/>
              </a:ext>
            </a:extLst>
          </p:cNvPr>
          <p:cNvSpPr/>
          <p:nvPr/>
        </p:nvSpPr>
        <p:spPr>
          <a:xfrm>
            <a:off x="182880" y="6344713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</a:t>
            </a: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Inteligencia Artificial — UNAL Sede Manizales   |   NIVEL 3 — nota 5.0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032288"/>
            <a:ext cx="8869680" cy="508148"/>
          </a:xfrm>
          <a:prstGeom prst="rect">
            <a:avLst/>
          </a:prstGeom>
          <a:solidFill>
            <a:srgbClr val="C8A41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11480" y="1032288"/>
            <a:ext cx="8337499" cy="50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|  Conclusiones y Trabajo Futuro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749290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</a:t>
            </a: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Inteligencia Artificial — UNAL Sede Manizales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74320" y="1680210"/>
            <a:ext cx="4114800" cy="3977640"/>
          </a:xfrm>
          <a:prstGeom prst="rect">
            <a:avLst/>
          </a:prstGeom>
          <a:solidFill>
            <a:srgbClr val="001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274320" y="1680210"/>
            <a:ext cx="4114800" cy="365760"/>
          </a:xfrm>
          <a:prstGeom prst="rect">
            <a:avLst/>
          </a:prstGeom>
          <a:solidFill>
            <a:srgbClr val="C8A41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65760" y="168021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Conclusiones del Proyecto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100834"/>
            <a:ext cx="3931920" cy="3438144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38912" y="2155698"/>
            <a:ext cx="3785616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Conclusión sobre el Nivel 1 (N8n):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  <a:p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Conclusión sobre el Nivel 2 (LangChain):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  <a:p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Conclusión sobre la Técnica Racional: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  <a:p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Aprendizajes del equipo: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680210"/>
            <a:ext cx="4114800" cy="3977640"/>
          </a:xfrm>
          <a:prstGeom prst="rect">
            <a:avLst/>
          </a:prstGeom>
          <a:solidFill>
            <a:srgbClr val="001A5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754880" y="1680210"/>
            <a:ext cx="4114800" cy="365760"/>
          </a:xfrm>
          <a:prstGeom prst="rect">
            <a:avLst/>
          </a:prstGeom>
          <a:solidFill>
            <a:srgbClr val="27A99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846320" y="168021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Trabajo Futuro y Mejoras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2100834"/>
            <a:ext cx="3931920" cy="3438144"/>
          </a:xfrm>
          <a:prstGeom prst="rect">
            <a:avLst/>
          </a:prstGeom>
          <a:solidFill>
            <a:srgbClr val="FAFAFA"/>
          </a:solidFill>
          <a:ln w="15240">
            <a:solidFill>
              <a:srgbClr val="C8A415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919472" y="2155698"/>
            <a:ext cx="3785616" cy="3328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Mejora técnica propuesta: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  <a:p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Escalabilidad del sistema: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  <a:p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Aplicación real en producción: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  <a:p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Línea de investigación futura:</a:t>
            </a:r>
            <a:endParaRPr lang="en-US" sz="1000" dirty="0"/>
          </a:p>
          <a:p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aquí]</a:t>
            </a:r>
            <a:endParaRPr lang="en-US" sz="100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E990BDD8-E5BE-6429-BF38-60BCF732B1DA}"/>
              </a:ext>
            </a:extLst>
          </p:cNvPr>
          <p:cNvSpPr/>
          <p:nvPr/>
        </p:nvSpPr>
        <p:spPr>
          <a:xfrm>
            <a:off x="0" y="6344713"/>
            <a:ext cx="9144000" cy="251460"/>
          </a:xfrm>
          <a:prstGeom prst="rect">
            <a:avLst/>
          </a:prstGeom>
          <a:solidFill>
            <a:srgbClr val="C8A415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07C0632F-AF79-0501-9884-050B9F5F374D}"/>
              </a:ext>
            </a:extLst>
          </p:cNvPr>
          <p:cNvSpPr/>
          <p:nvPr/>
        </p:nvSpPr>
        <p:spPr>
          <a:xfrm>
            <a:off x="182880" y="6344713"/>
            <a:ext cx="8778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 err="1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Especialización</a:t>
            </a:r>
            <a:r>
              <a:rPr lang="en-US" sz="850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Inteligencia Artificial — UNAL Sede Manizales   |   NIVEL 3 — nota 5.0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2085811"/>
            <a:ext cx="3810000" cy="4762500"/>
          </a:xfrm>
          <a:prstGeom prst="rect">
            <a:avLst/>
          </a:prstGeom>
        </p:spPr>
      </p:pic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816650" y="2186327"/>
            <a:ext cx="4966446" cy="1398494"/>
          </a:xfrm>
        </p:spPr>
        <p:txBody>
          <a:bodyPr/>
          <a:lstStyle/>
          <a:p>
            <a:r>
              <a:rPr lang="es-ES_tradnl" sz="4800" b="1" dirty="0">
                <a:solidFill>
                  <a:schemeClr val="accent1">
                    <a:lumMod val="75000"/>
                  </a:schemeClr>
                </a:solidFill>
              </a:rPr>
              <a:t>Tutorial: Titulo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idx="1"/>
          </p:nvPr>
        </p:nvSpPr>
        <p:spPr>
          <a:xfrm>
            <a:off x="2816650" y="4154154"/>
            <a:ext cx="4966446" cy="1320800"/>
          </a:xfrm>
        </p:spPr>
        <p:txBody>
          <a:bodyPr/>
          <a:lstStyle/>
          <a:p>
            <a:r>
              <a:rPr lang="es-ES_tradnl" dirty="0">
                <a:solidFill>
                  <a:srgbClr val="0000FF"/>
                </a:solidFill>
              </a:rPr>
              <a:t>Nombre, código, correo, estudiantes</a:t>
            </a:r>
          </a:p>
          <a:p>
            <a:endParaRPr lang="es-ES_tradnl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843BA9-444C-0E4C-AC7B-7E35D24FEB8A}"/>
              </a:ext>
            </a:extLst>
          </p:cNvPr>
          <p:cNvSpPr txBox="1"/>
          <p:nvPr/>
        </p:nvSpPr>
        <p:spPr>
          <a:xfrm>
            <a:off x="6685280" y="60350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Plaza">
  <a:themeElements>
    <a:clrScheme name="Artículo">
      <a:dk1>
        <a:sysClr val="windowText" lastClr="000000"/>
      </a:dk1>
      <a:lt1>
        <a:sysClr val="window" lastClr="FFFFFF"/>
      </a:lt1>
      <a:dk2>
        <a:srgbClr val="212121"/>
      </a:dk2>
      <a:lt2>
        <a:srgbClr val="CDD4D7"/>
      </a:lt2>
      <a:accent1>
        <a:srgbClr val="1D86CD"/>
      </a:accent1>
      <a:accent2>
        <a:srgbClr val="732E9A"/>
      </a:accent2>
      <a:accent3>
        <a:srgbClr val="B50B1B"/>
      </a:accent3>
      <a:accent4>
        <a:srgbClr val="E8950E"/>
      </a:accent4>
      <a:accent5>
        <a:srgbClr val="55992B"/>
      </a:accent5>
      <a:accent6>
        <a:srgbClr val="2C9C89"/>
      </a:accent6>
      <a:hlink>
        <a:srgbClr val="EC4D4D"/>
      </a:hlink>
      <a:folHlink>
        <a:srgbClr val="F8CE8A"/>
      </a:folHlink>
    </a:clrScheme>
    <a:fontScheme name="Plaza">
      <a:majorFont>
        <a:latin typeface="Century Gothic"/>
        <a:ea typeface=""/>
        <a:cs typeface=""/>
        <a:font script="Jpan" typeface="メイリオ"/>
      </a:majorFont>
      <a:minorFont>
        <a:latin typeface="Century Gothic"/>
        <a:ea typeface=""/>
        <a:cs typeface=""/>
        <a:font script="Jpan" typeface="メイリオ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Plaza.thmx</Template>
  <TotalTime>6827</TotalTime>
  <Words>1903</Words>
  <Application>Microsoft Macintosh PowerPoint</Application>
  <PresentationFormat>Presentación en pantalla (4:3)</PresentationFormat>
  <Paragraphs>292</Paragraphs>
  <Slides>14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Courier New</vt:lpstr>
      <vt:lpstr>Wingdings 2</vt:lpstr>
      <vt:lpstr>Plaza</vt:lpstr>
      <vt:lpstr>Datos estudiantes</vt:lpstr>
      <vt:lpstr>Agenda </vt:lpstr>
      <vt:lpstr>Introducción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Tutorial: Titulo</vt:lpstr>
    </vt:vector>
  </TitlesOfParts>
  <Manager/>
  <Company>Universidad de Zaragoza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2010-2011</dc:title>
  <dc:subject/>
  <dc:creator>Jose Angel Bañares Bañares</dc:creator>
  <cp:keywords/>
  <dc:description/>
  <cp:lastModifiedBy>Sebastián  Valencia Carvajal</cp:lastModifiedBy>
  <cp:revision>158</cp:revision>
  <cp:lastPrinted>2022-10-05T13:39:46Z</cp:lastPrinted>
  <dcterms:created xsi:type="dcterms:W3CDTF">2010-09-20T07:20:35Z</dcterms:created>
  <dcterms:modified xsi:type="dcterms:W3CDTF">2026-06-08T19:05:18Z</dcterms:modified>
  <cp:category/>
</cp:coreProperties>
</file>